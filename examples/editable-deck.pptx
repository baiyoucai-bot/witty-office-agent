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演示数据：季度完成率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rgbClr val="C45C26"/>
            </a:solidFill>
            <a:ln>
              <a:solidFill>
                <a:srgbClr val="C45C26"/>
              </a:solidFill>
            </a:ln>
          </c:spPr>
          <c:cat>
            <c:strRef>
              <c:f>Sheet1!$A$2:$A$5</c:f>
              <c:strCache>
                <c:ptCount val="4"/>
                <c:pt idx="0">
                  <c:v>一季度</c:v>
                </c:pt>
                <c:pt idx="1">
                  <c:v>二季度</c:v>
                </c:pt>
                <c:pt idx="2">
                  <c:v>三季度</c:v>
                </c:pt>
                <c:pt idx="3">
                  <c:v>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</c:v>
                </c:pt>
                <c:pt idx="1">
                  <c:v>81.0</c:v>
                </c:pt>
                <c:pt idx="2">
                  <c:v>86.0</c:v>
                </c:pt>
                <c:pt idx="3">
                  <c:v>91.0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itty-box-0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itty-box-1"/>
          <p:cNvSpPr/>
          <p:nvPr/>
        </p:nvSpPr>
        <p:spPr>
          <a:xfrm>
            <a:off x="4892040" y="0"/>
            <a:ext cx="729965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ty-box-2"/>
          <p:cNvSpPr/>
          <p:nvPr/>
        </p:nvSpPr>
        <p:spPr>
          <a:xfrm>
            <a:off x="658368" y="1874519"/>
            <a:ext cx="438912" cy="43891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itty-title"/>
          <p:cNvSpPr txBox="1"/>
          <p:nvPr/>
        </p:nvSpPr>
        <p:spPr>
          <a:xfrm>
            <a:off x="658368" y="2487168"/>
            <a:ext cx="3840480" cy="1554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6F1E8"/>
                </a:solidFill>
                <a:latin typeface="Hiragino Sans GB"/>
                <a:ea typeface="Hiragino Sans GB"/>
                <a:cs typeface="Hiragino Sans GB"/>
              </a:rPr>
              <a:t>通用智能体底座</a:t>
            </a:r>
          </a:p>
        </p:txBody>
      </p:sp>
      <p:sp>
        <p:nvSpPr>
          <p:cNvPr id="6" name="witty-box-4"/>
          <p:cNvSpPr/>
          <p:nvPr/>
        </p:nvSpPr>
        <p:spPr>
          <a:xfrm>
            <a:off x="658368" y="4160520"/>
            <a:ext cx="1280160" cy="411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ty-kicker"/>
          <p:cNvSpPr txBox="1"/>
          <p:nvPr/>
        </p:nvSpPr>
        <p:spPr>
          <a:xfrm>
            <a:off x="658368" y="4343400"/>
            <a:ext cx="384048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spc="180">
                <a:solidFill>
                  <a:srgbClr val="E8A078"/>
                </a:solidFill>
                <a:latin typeface="Hiragino Sans GB"/>
                <a:ea typeface="Hiragino Sans GB"/>
                <a:cs typeface="Hiragino Sans GB"/>
              </a:rPr>
              <a:t>可编辑 PPT  ·  现场排版</a:t>
            </a:r>
          </a:p>
        </p:txBody>
      </p:sp>
      <p:sp>
        <p:nvSpPr>
          <p:cNvPr id="8" name="witty-body"/>
          <p:cNvSpPr txBox="1"/>
          <p:nvPr/>
        </p:nvSpPr>
        <p:spPr>
          <a:xfrm>
            <a:off x="5532120" y="2331720"/>
            <a:ext cx="5852160" cy="23774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不是套模板。按这一次的场合、听众和风格发明配色和版式，写出 WPS / Office 能改的稿。</a:t>
            </a:r>
          </a:p>
        </p:txBody>
      </p:sp>
      <p:sp>
        <p:nvSpPr>
          <p:cNvPr id="9" name="witty-footer"/>
          <p:cNvSpPr txBox="1"/>
          <p:nvPr/>
        </p:nvSpPr>
        <p:spPr>
          <a:xfrm>
            <a:off x="566928" y="6291072"/>
            <a:ext cx="96926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内部汇报  ·  1</a:t>
            </a:r>
          </a:p>
        </p:txBody>
      </p:sp>
      <p:sp>
        <p:nvSpPr>
          <p:cNvPr id="10" name="witty-page"/>
          <p:cNvSpPr txBox="1"/>
          <p:nvPr/>
        </p:nvSpPr>
        <p:spPr>
          <a:xfrm>
            <a:off x="10424160" y="6291072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witty-theme"/>
          <p:cNvSpPr txBox="1"/>
          <p:nvPr/>
        </p:nvSpPr>
        <p:spPr>
          <a:xfrm>
            <a:off x="-228600" y="-228600"/>
            <a:ext cx="1828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F6F1E8"/>
                </a:solidFill>
                <a:latin typeface="Hiragino Sans GB"/>
                <a:ea typeface="Hiragino Sans GB"/>
                <a:cs typeface="Hiragino Sans GB"/>
              </a:rPr>
              <a:t>{"id":"custom","font":"Hiragino Sans GB","cover":"minimal","bar":"#1c1c22","cover_bg":"#163a3a","muted":"#5c6b70","on_accent":"#ffffff","cover_muted":"#666666","card_ink":"#1c1c22","accent2":"#163a3a","bg":"#f6f1e8","card":"#fffbf4","line":"#e2d9cc","accent":"#c45c26","ink":"#1a2428","surface":"#f4f4f4","cover_ink":"#f6f1e8"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itty-box-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itty-kicker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18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原则</a:t>
            </a:r>
          </a:p>
        </p:txBody>
      </p:sp>
      <p:sp>
        <p:nvSpPr>
          <p:cNvPr id="4" name="witty-title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这一次怎么说，就怎么排</a:t>
            </a:r>
          </a:p>
        </p:txBody>
      </p:sp>
      <p:sp>
        <p:nvSpPr>
          <p:cNvPr id="5" name="witty-box-3"/>
          <p:cNvSpPr/>
          <p:nvPr/>
        </p:nvSpPr>
        <p:spPr>
          <a:xfrm>
            <a:off x="640080" y="1481328"/>
            <a:ext cx="3520440" cy="4160520"/>
          </a:xfrm>
          <a:prstGeom prst="roundRect">
            <a:avLst>
              <a:gd name="adj" fmla="val 12000"/>
            </a:avLst>
          </a:prstGeom>
          <a:solidFill>
            <a:srgbClr val="FFFBF4"/>
          </a:solidFill>
          <a:ln>
            <a:noFill/>
          </a:ln>
          <a:effectLst>
            <a:outerShdw blurRad="50800" dist="38100" dir="2700000" algn="tl" rotWithShape="0">
              <a:srgbClr val="1A242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tty-box-4"/>
          <p:cNvSpPr/>
          <p:nvPr/>
        </p:nvSpPr>
        <p:spPr>
          <a:xfrm>
            <a:off x="640080" y="1481328"/>
            <a:ext cx="82296" cy="41605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ty-box-5"/>
          <p:cNvSpPr txBox="1"/>
          <p:nvPr/>
        </p:nvSpPr>
        <p:spPr>
          <a:xfrm>
            <a:off x="960120" y="1737360"/>
            <a:ext cx="292608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配色</a:t>
            </a:r>
          </a:p>
        </p:txBody>
      </p:sp>
      <p:sp>
        <p:nvSpPr>
          <p:cNvPr id="8" name="witty-box-6"/>
          <p:cNvSpPr txBox="1"/>
          <p:nvPr/>
        </p:nvSpPr>
        <p:spPr>
          <a:xfrm>
            <a:off x="960120" y="2240280"/>
            <a:ext cx="2926080" cy="3017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底、字、强调色按口述现场定。改口就改 token，不用换一套内置主题。</a:t>
            </a:r>
          </a:p>
        </p:txBody>
      </p:sp>
      <p:sp>
        <p:nvSpPr>
          <p:cNvPr id="9" name="witty-box-7"/>
          <p:cNvSpPr/>
          <p:nvPr/>
        </p:nvSpPr>
        <p:spPr>
          <a:xfrm>
            <a:off x="4343400" y="1481328"/>
            <a:ext cx="3520440" cy="4160520"/>
          </a:xfrm>
          <a:prstGeom prst="roundRect">
            <a:avLst>
              <a:gd name="adj" fmla="val 12000"/>
            </a:avLst>
          </a:prstGeom>
          <a:solidFill>
            <a:srgbClr val="FFFBF4"/>
          </a:solidFill>
          <a:ln>
            <a:noFill/>
          </a:ln>
          <a:effectLst>
            <a:outerShdw blurRad="50800" dist="38100" dir="2700000" algn="tl" rotWithShape="0">
              <a:srgbClr val="1A242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tty-box-8"/>
          <p:cNvSpPr/>
          <p:nvPr/>
        </p:nvSpPr>
        <p:spPr>
          <a:xfrm>
            <a:off x="4343400" y="1481328"/>
            <a:ext cx="82296" cy="41605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tty-box-9"/>
          <p:cNvSpPr txBox="1"/>
          <p:nvPr/>
        </p:nvSpPr>
        <p:spPr>
          <a:xfrm>
            <a:off x="4663440" y="1737360"/>
            <a:ext cx="292608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版式</a:t>
            </a:r>
          </a:p>
        </p:txBody>
      </p:sp>
      <p:sp>
        <p:nvSpPr>
          <p:cNvPr id="12" name="witty-box-10"/>
          <p:cNvSpPr txBox="1"/>
          <p:nvPr/>
        </p:nvSpPr>
        <p:spPr>
          <a:xfrm>
            <a:off x="4663440" y="2240280"/>
            <a:ext cx="2926080" cy="3017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每页用盒子自由摆：色条、标题、三栏、表、图。坐标英寸，16:9 画布。</a:t>
            </a:r>
          </a:p>
        </p:txBody>
      </p:sp>
      <p:sp>
        <p:nvSpPr>
          <p:cNvPr id="13" name="witty-box-11"/>
          <p:cNvSpPr/>
          <p:nvPr/>
        </p:nvSpPr>
        <p:spPr>
          <a:xfrm>
            <a:off x="8046720" y="1481328"/>
            <a:ext cx="3520440" cy="4160520"/>
          </a:xfrm>
          <a:prstGeom prst="roundRect">
            <a:avLst>
              <a:gd name="adj" fmla="val 12000"/>
            </a:avLst>
          </a:prstGeom>
          <a:solidFill>
            <a:srgbClr val="FFFBF4"/>
          </a:solidFill>
          <a:ln>
            <a:noFill/>
          </a:ln>
          <a:effectLst>
            <a:outerShdw blurRad="50800" dist="38100" dir="2700000" algn="tl" rotWithShape="0">
              <a:srgbClr val="1A242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tty-box-12"/>
          <p:cNvSpPr/>
          <p:nvPr/>
        </p:nvSpPr>
        <p:spPr>
          <a:xfrm>
            <a:off x="8046720" y="1481328"/>
            <a:ext cx="82296" cy="41605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itty-box-13"/>
          <p:cNvSpPr txBox="1"/>
          <p:nvPr/>
        </p:nvSpPr>
        <p:spPr>
          <a:xfrm>
            <a:off x="8366760" y="1737360"/>
            <a:ext cx="292608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成品</a:t>
            </a:r>
          </a:p>
        </p:txBody>
      </p:sp>
      <p:sp>
        <p:nvSpPr>
          <p:cNvPr id="16" name="witty-box-14"/>
          <p:cNvSpPr txBox="1"/>
          <p:nvPr/>
        </p:nvSpPr>
        <p:spPr>
          <a:xfrm>
            <a:off x="8366760" y="2240280"/>
            <a:ext cx="2926080" cy="3017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原生文本、表格和图表。WPS / Office 里能改字、改表、改图数据。</a:t>
            </a:r>
          </a:p>
        </p:txBody>
      </p:sp>
      <p:sp>
        <p:nvSpPr>
          <p:cNvPr id="17" name="witty-footer"/>
          <p:cNvSpPr txBox="1"/>
          <p:nvPr/>
        </p:nvSpPr>
        <p:spPr>
          <a:xfrm>
            <a:off x="566928" y="6291072"/>
            <a:ext cx="96926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内部汇报  ·  2</a:t>
            </a:r>
          </a:p>
        </p:txBody>
      </p:sp>
      <p:sp>
        <p:nvSpPr>
          <p:cNvPr id="18" name="witty-page"/>
          <p:cNvSpPr txBox="1"/>
          <p:nvPr/>
        </p:nvSpPr>
        <p:spPr>
          <a:xfrm>
            <a:off x="10424160" y="6291072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itty-box-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itty-kicker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18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交付</a:t>
            </a:r>
          </a:p>
        </p:txBody>
      </p:sp>
      <p:sp>
        <p:nvSpPr>
          <p:cNvPr id="4" name="witty-title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一次写出两种文件</a:t>
            </a:r>
          </a:p>
        </p:txBody>
      </p:sp>
      <p:sp>
        <p:nvSpPr>
          <p:cNvPr id="5" name="witty-box-3"/>
          <p:cNvSpPr/>
          <p:nvPr/>
        </p:nvSpPr>
        <p:spPr>
          <a:xfrm>
            <a:off x="640080" y="1481328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163A3A"/>
          </a:solidFill>
          <a:ln>
            <a:noFill/>
          </a:ln>
          <a:effectLst>
            <a:outerShdw blurRad="50800" dist="38100" dir="2700000" algn="tl" rotWithShape="0">
              <a:srgbClr val="1A242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tty-box-4"/>
          <p:cNvSpPr txBox="1"/>
          <p:nvPr/>
        </p:nvSpPr>
        <p:spPr>
          <a:xfrm>
            <a:off x="960120" y="1874519"/>
            <a:ext cx="470916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E8A078"/>
                </a:solidFill>
                <a:latin typeface="Hiragino Sans GB"/>
                <a:ea typeface="Hiragino Sans GB"/>
                <a:cs typeface="Hiragino Sans GB"/>
              </a:rPr>
              <a:t>.pptx</a:t>
            </a:r>
          </a:p>
        </p:txBody>
      </p:sp>
      <p:sp>
        <p:nvSpPr>
          <p:cNvPr id="7" name="witty-body"/>
          <p:cNvSpPr txBox="1"/>
          <p:nvPr/>
        </p:nvSpPr>
        <p:spPr>
          <a:xfrm>
            <a:off x="960120" y="2514600"/>
            <a:ext cx="4709160" cy="2651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F6F1E8"/>
                </a:solidFill>
                <a:latin typeface="Hiragino Sans GB"/>
                <a:ea typeface="Hiragino Sans GB"/>
                <a:cs typeface="Hiragino Sans GB"/>
              </a:rPr>
              <a:t>·  给同事继续改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F6F1E8"/>
                </a:solidFill>
                <a:latin typeface="Hiragino Sans GB"/>
                <a:ea typeface="Hiragino Sans GB"/>
                <a:cs typeface="Hiragino Sans GB"/>
              </a:rPr>
              <a:t>·  原生形状和表格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F6F1E8"/>
                </a:solidFill>
                <a:latin typeface="Hiragino Sans GB"/>
                <a:ea typeface="Hiragino Sans GB"/>
                <a:cs typeface="Hiragino Sans GB"/>
              </a:rPr>
              <a:t>·  不走公网美化</a:t>
            </a:r>
          </a:p>
        </p:txBody>
      </p:sp>
      <p:sp>
        <p:nvSpPr>
          <p:cNvPr id="8" name="witty-box-6"/>
          <p:cNvSpPr/>
          <p:nvPr/>
        </p:nvSpPr>
        <p:spPr>
          <a:xfrm>
            <a:off x="6217920" y="1481328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FFFBF4"/>
          </a:solidFill>
          <a:ln>
            <a:noFill/>
          </a:ln>
          <a:effectLst>
            <a:outerShdw blurRad="50800" dist="38100" dir="2700000" algn="tl" rotWithShape="0">
              <a:srgbClr val="1A242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tty-box-7"/>
          <p:cNvSpPr txBox="1"/>
          <p:nvPr/>
        </p:nvSpPr>
        <p:spPr>
          <a:xfrm>
            <a:off x="6537960" y="1874519"/>
            <a:ext cx="470916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.html</a:t>
            </a:r>
          </a:p>
        </p:txBody>
      </p:sp>
      <p:sp>
        <p:nvSpPr>
          <p:cNvPr id="10" name="witty-box-8"/>
          <p:cNvSpPr txBox="1"/>
          <p:nvPr/>
        </p:nvSpPr>
        <p:spPr>
          <a:xfrm>
            <a:off x="6537960" y="2514600"/>
            <a:ext cx="4709160" cy="2651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·  浏览器里预览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·  同稿盒子树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·  改完可转回 pptx</a:t>
            </a:r>
          </a:p>
        </p:txBody>
      </p:sp>
      <p:sp>
        <p:nvSpPr>
          <p:cNvPr id="11" name="witty-footer"/>
          <p:cNvSpPr txBox="1"/>
          <p:nvPr/>
        </p:nvSpPr>
        <p:spPr>
          <a:xfrm>
            <a:off x="566928" y="6291072"/>
            <a:ext cx="96926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内部汇报  ·  3</a:t>
            </a:r>
          </a:p>
        </p:txBody>
      </p:sp>
      <p:sp>
        <p:nvSpPr>
          <p:cNvPr id="12" name="witty-page"/>
          <p:cNvSpPr txBox="1"/>
          <p:nvPr/>
        </p:nvSpPr>
        <p:spPr>
          <a:xfrm>
            <a:off x="10424160" y="6291072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itty-box-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itty-kicker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18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怎么改</a:t>
            </a:r>
          </a:p>
        </p:txBody>
      </p:sp>
      <p:sp>
        <p:nvSpPr>
          <p:cNvPr id="4" name="witty-title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一块、一页，都能改</a:t>
            </a:r>
          </a:p>
        </p:txBody>
      </p:sp>
      <p:graphicFrame>
        <p:nvGraphicFramePr>
          <p:cNvPr id="5" name="witty-box-3"/>
          <p:cNvGraphicFramePr>
            <a:graphicFrameLocks noGrp="1"/>
          </p:cNvGraphicFramePr>
          <p:nvPr/>
        </p:nvGraphicFramePr>
        <p:xfrm>
          <a:off x="640080" y="1481328"/>
          <a:ext cx="109270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540"/>
                <a:gridCol w="5463540"/>
              </a:tblGrid>
              <a:tr h="832104">
                <a:tc>
                  <a:txBody>
                    <a:bodyPr lIns="109728" rIns="109728" tIns="73152" bIns="73152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你说</a:t>
                      </a:r>
                    </a:p>
                  </a:txBody>
                  <a:tcPr>
                    <a:solidFill>
                      <a:srgbClr val="163A3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用什么</a:t>
                      </a:r>
                    </a:p>
                  </a:txBody>
                  <a:tcPr>
                    <a:solidFill>
                      <a:srgbClr val="163A3A"/>
                    </a:solidFill>
                  </a:tcPr>
                </a:tc>
              </a:tr>
              <a:tr h="832104"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这块标题改一下</a:t>
                      </a:r>
                    </a:p>
                  </a:txBody>
                  <a:tcPr>
                    <a:solidFill>
                      <a:srgbClr val="FFFBF4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pptx_edit_box</a:t>
                      </a:r>
                    </a:p>
                  </a:txBody>
                  <a:tcPr>
                    <a:solidFill>
                      <a:srgbClr val="FFFBF4"/>
                    </a:solidFill>
                  </a:tcPr>
                </a:tc>
              </a:tr>
              <a:tr h="832104"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这一页重排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pptx_replace_slide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832104"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再加一页</a:t>
                      </a:r>
                    </a:p>
                  </a:txBody>
                  <a:tcPr>
                    <a:solidFill>
                      <a:srgbClr val="FFFBF4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pptx_add_page</a:t>
                      </a:r>
                    </a:p>
                  </a:txBody>
                  <a:tcPr>
                    <a:solidFill>
                      <a:srgbClr val="FFFBF4"/>
                    </a:solidFill>
                  </a:tcPr>
                </a:tc>
              </a:tr>
              <a:tr h="832104"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整份风格换掉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0" i="0">
                          <a:solidFill>
                            <a:srgbClr val="1A242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改 theme 再 pptx_render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witty-footer"/>
          <p:cNvSpPr txBox="1"/>
          <p:nvPr/>
        </p:nvSpPr>
        <p:spPr>
          <a:xfrm>
            <a:off x="566928" y="6291072"/>
            <a:ext cx="96926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内部汇报  ·  4</a:t>
            </a:r>
          </a:p>
        </p:txBody>
      </p:sp>
      <p:sp>
        <p:nvSpPr>
          <p:cNvPr id="7" name="witty-page"/>
          <p:cNvSpPr txBox="1"/>
          <p:nvPr/>
        </p:nvSpPr>
        <p:spPr>
          <a:xfrm>
            <a:off x="10424160" y="6291072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itty-box-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itty-kicker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180">
                <a:solidFill>
                  <a:srgbClr val="C45C26"/>
                </a:solidFill>
                <a:latin typeface="Hiragino Sans GB"/>
                <a:ea typeface="Hiragino Sans GB"/>
                <a:cs typeface="Hiragino Sans GB"/>
              </a:rPr>
              <a:t>图表</a:t>
            </a:r>
          </a:p>
        </p:txBody>
      </p:sp>
      <p:sp>
        <p:nvSpPr>
          <p:cNvPr id="4" name="witty-title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1A2428"/>
                </a:solidFill>
                <a:latin typeface="Hiragino Sans GB"/>
                <a:ea typeface="Hiragino Sans GB"/>
                <a:cs typeface="Hiragino Sans GB"/>
              </a:rPr>
              <a:t>原生图表，Office 里能改数据</a:t>
            </a:r>
          </a:p>
        </p:txBody>
      </p:sp>
      <p:graphicFrame>
        <p:nvGraphicFramePr>
          <p:cNvPr id="5" name="witty-chart"/>
          <p:cNvGraphicFramePr>
            <a:graphicFrameLocks noGrp="1"/>
          </p:cNvGraphicFramePr>
          <p:nvPr/>
        </p:nvGraphicFramePr>
        <p:xfrm>
          <a:off x="640080" y="1417320"/>
          <a:ext cx="109270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witty-footer"/>
          <p:cNvSpPr txBox="1"/>
          <p:nvPr/>
        </p:nvSpPr>
        <p:spPr>
          <a:xfrm>
            <a:off x="566928" y="6291072"/>
            <a:ext cx="96926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内部汇报  ·  5</a:t>
            </a:r>
          </a:p>
        </p:txBody>
      </p:sp>
      <p:sp>
        <p:nvSpPr>
          <p:cNvPr id="7" name="witty-page"/>
          <p:cNvSpPr txBox="1"/>
          <p:nvPr/>
        </p:nvSpPr>
        <p:spPr>
          <a:xfrm>
            <a:off x="10424160" y="6291072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itty-box-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itty-kicker"/>
          <p:cNvSpPr txBox="1"/>
          <p:nvPr/>
        </p:nvSpPr>
        <p:spPr>
          <a:xfrm>
            <a:off x="685800" y="2148840"/>
            <a:ext cx="1078992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E8A078"/>
                </a:solidFill>
                <a:latin typeface="Hiragino Sans GB"/>
                <a:ea typeface="Hiragino Sans GB"/>
                <a:cs typeface="Hiragino Sans GB"/>
              </a:rPr>
              <a:t>下一步</a:t>
            </a:r>
          </a:p>
        </p:txBody>
      </p:sp>
      <p:sp>
        <p:nvSpPr>
          <p:cNvPr id="4" name="witty-title"/>
          <p:cNvSpPr txBox="1"/>
          <p:nvPr/>
        </p:nvSpPr>
        <p:spPr>
          <a:xfrm>
            <a:off x="685800" y="2560320"/>
            <a:ext cx="10789920" cy="11430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6F1E8"/>
                </a:solidFill>
                <a:latin typeface="Hiragino Sans GB"/>
                <a:ea typeface="Hiragino Sans GB"/>
                <a:cs typeface="Hiragino Sans GB"/>
              </a:rPr>
              <a:t>把场合、页数、风格发过来</a:t>
            </a:r>
          </a:p>
        </p:txBody>
      </p:sp>
      <p:sp>
        <p:nvSpPr>
          <p:cNvPr id="5" name="witty-box-3"/>
          <p:cNvSpPr/>
          <p:nvPr/>
        </p:nvSpPr>
        <p:spPr>
          <a:xfrm>
            <a:off x="685800" y="3840480"/>
            <a:ext cx="1371600" cy="411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tty-box-4"/>
          <p:cNvSpPr txBox="1"/>
          <p:nvPr/>
        </p:nvSpPr>
        <p:spPr>
          <a:xfrm>
            <a:off x="685800" y="4069080"/>
            <a:ext cx="10789920" cy="8229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F6F1E8"/>
                </a:solidFill>
                <a:latin typeface="Hiragino Sans GB"/>
                <a:ea typeface="Hiragino Sans GB"/>
                <a:cs typeface="Hiragino Sans GB"/>
              </a:rPr>
              <a:t>按这一次的要求出可编辑稿，不再从目录里挑模板。</a:t>
            </a:r>
          </a:p>
        </p:txBody>
      </p:sp>
      <p:sp>
        <p:nvSpPr>
          <p:cNvPr id="7" name="witty-footer"/>
          <p:cNvSpPr txBox="1"/>
          <p:nvPr/>
        </p:nvSpPr>
        <p:spPr>
          <a:xfrm>
            <a:off x="566928" y="6291072"/>
            <a:ext cx="96926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内部汇报  ·  6</a:t>
            </a:r>
          </a:p>
        </p:txBody>
      </p:sp>
      <p:sp>
        <p:nvSpPr>
          <p:cNvPr id="8" name="witty-page"/>
          <p:cNvSpPr txBox="1"/>
          <p:nvPr/>
        </p:nvSpPr>
        <p:spPr>
          <a:xfrm>
            <a:off x="10424160" y="6291072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C6B70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通用智能体底座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